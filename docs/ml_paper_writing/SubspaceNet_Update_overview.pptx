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67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5F8FC"/>
                </a:solidFill>
                <a:latin typeface="Arial"/>
              </a:rPr>
              <a:t>SubspaceNet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BBC6D6"/>
                </a:solidFill>
                <a:latin typeface="Arial"/>
              </a:rPr>
              <a:t>Repository Overview and Technical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5989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AB9CD"/>
                </a:solidFill>
                <a:latin typeface="Arial"/>
              </a:rPr>
              <a:t>Generated from current repository structure and configs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C2331"/>
                </a:solidFill>
                <a:latin typeface="Arial"/>
              </a:rPr>
              <a:t>1. 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32588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606D80"/>
                </a:solidFill>
                <a:latin typeface="Arial"/>
              </a:rPr>
              <a:t>Trajectory-aware DOA estimation with adaptive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C2331"/>
                </a:solidFill>
                <a:latin typeface="Arial"/>
              </a:defRPr>
            </a:pPr>
            <a:r>
              <a:t>Core task: Direction-of-Arrival (DOA) estimation in dynamic, non-stationary scenarios.</a:t>
            </a:r>
          </a:p>
          <a:p>
            <a:pPr>
              <a:spcAft>
                <a:spcPts val="800"/>
              </a:spcAft>
              <a:defRPr sz="2400">
                <a:solidFill>
                  <a:srgbClr val="1C2331"/>
                </a:solidFill>
                <a:latin typeface="Arial"/>
              </a:defRPr>
            </a:pPr>
            <a:r>
              <a:t>Model path: SubspaceNet backbone + trajectory-based training/evaluation pipeline.</a:t>
            </a:r>
          </a:p>
          <a:p>
            <a:pPr>
              <a:spcAft>
                <a:spcPts val="800"/>
              </a:spcAft>
              <a:defRPr sz="2400">
                <a:solidFill>
                  <a:srgbClr val="1C2331"/>
                </a:solidFill>
                <a:latin typeface="Arial"/>
              </a:defRPr>
            </a:pPr>
            <a:r>
              <a:t>Tracking focus: combine neural prediction with EKF-based temporal refinement.</a:t>
            </a:r>
          </a:p>
          <a:p>
            <a:pPr>
              <a:spcAft>
                <a:spcPts val="800"/>
              </a:spcAft>
              <a:defRPr sz="2400">
                <a:solidFill>
                  <a:srgbClr val="1C2331"/>
                </a:solidFill>
                <a:latin typeface="Arial"/>
              </a:defRPr>
            </a:pPr>
            <a:r>
              <a:t>Online adaptation: support windowed updates using supervised/unsupervised objectives.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C2331"/>
                </a:solidFill>
                <a:latin typeface="Arial"/>
              </a:rPr>
              <a:t>2. Repository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32588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606D80"/>
                </a:solidFill>
                <a:latin typeface="Arial"/>
              </a:rPr>
              <a:t>Refactored layout centered on src/ and configs/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C2331"/>
                </a:solidFill>
                <a:latin typeface="Arial"/>
              </a:defRPr>
            </a:pPr>
            <a:r>
              <a:t>`src/data/`: trajectory generation, dataset handling, datamodule wrappers.</a:t>
            </a:r>
          </a:p>
          <a:p>
            <a:pPr>
              <a:spcAft>
                <a:spcPts val="800"/>
              </a:spcAft>
              <a:defRPr sz="2000">
                <a:solidFill>
                  <a:srgbClr val="1C2331"/>
                </a:solidFill>
                <a:latin typeface="Arial"/>
              </a:defRPr>
            </a:pPr>
            <a:r>
              <a:t>`src/train/`: training and online learning pipeline.</a:t>
            </a:r>
          </a:p>
          <a:p>
            <a:pPr>
              <a:spcAft>
                <a:spcPts val="800"/>
              </a:spcAft>
              <a:defRPr sz="2000">
                <a:solidFill>
                  <a:srgbClr val="1C2331"/>
                </a:solidFill>
                <a:latin typeface="Arial"/>
              </a:defRPr>
            </a:pPr>
            <a:r>
              <a:t>`src/eval/metrics/`: RMSPE, RMAPE, innovation-consistency losses.</a:t>
            </a:r>
          </a:p>
          <a:p>
            <a:pPr>
              <a:spcAft>
                <a:spcPts val="800"/>
              </a:spcAft>
              <a:defRPr sz="2000">
                <a:solidFill>
                  <a:srgbClr val="1C2331"/>
                </a:solidFill>
                <a:latin typeface="Arial"/>
              </a:defRPr>
            </a:pPr>
            <a:r>
              <a:t>`src/models/` + `src/models_pack/`: Lightning wrappers and SubspaceNet compatibility.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C2331"/>
                </a:solidFill>
                <a:latin typeface="Arial"/>
              </a:defRPr>
            </a:pPr>
            <a:r>
              <a:t>`configs/`: default/train/online/eval scenario configs.</a:t>
            </a:r>
          </a:p>
          <a:p>
            <a:pPr>
              <a:spcAft>
                <a:spcPts val="800"/>
              </a:spcAft>
              <a:defRPr sz="2000">
                <a:solidFill>
                  <a:srgbClr val="1C2331"/>
                </a:solidFill>
                <a:latin typeface="Arial"/>
              </a:defRPr>
            </a:pPr>
            <a:r>
              <a:t>`docs/plan/`: migration status and architecture decisions.</a:t>
            </a:r>
          </a:p>
          <a:p>
            <a:pPr>
              <a:spcAft>
                <a:spcPts val="800"/>
              </a:spcAft>
              <a:defRPr sz="2000">
                <a:solidFill>
                  <a:srgbClr val="1C2331"/>
                </a:solidFill>
                <a:latin typeface="Arial"/>
              </a:defRPr>
            </a:pPr>
            <a:r>
              <a:t>`docs/ml_paper_writing/`: paper draft and references placeholders.</a:t>
            </a:r>
          </a:p>
          <a:p>
            <a:pPr>
              <a:spcAft>
                <a:spcPts val="800"/>
              </a:spcAft>
              <a:defRPr sz="2000">
                <a:solidFill>
                  <a:srgbClr val="1C2331"/>
                </a:solidFill>
                <a:latin typeface="Arial"/>
              </a:defRPr>
            </a:pPr>
            <a:r>
              <a:t>Entry point: `python -m src.train run -c configs/default_config.yaml`.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5F8FC"/>
                </a:solidFill>
                <a:latin typeface="Arial"/>
              </a:rPr>
              <a:t>3. Data and Trajectory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32588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BBC6D6"/>
                </a:solidFill>
                <a:latin typeface="Arial"/>
              </a:rPr>
              <a:t>From synthetic sequence generation to batch collation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5F8FC"/>
                </a:solidFill>
                <a:latin typeface="Arial"/>
              </a:defRPr>
            </a:pPr>
            <a:r>
              <a:t>Default system setup (from configs/default_config.yaml): N=8 antennas, M=3 sources, T=200 snapshots, SNR=10 dB.</a:t>
            </a:r>
          </a:p>
          <a:p>
            <a:pPr>
              <a:spcAft>
                <a:spcPts val="800"/>
              </a:spcAft>
              <a:defRPr sz="2000">
                <a:solidFill>
                  <a:srgbClr val="F5F8FC"/>
                </a:solidFill>
                <a:latin typeface="Arial"/>
              </a:defRPr>
            </a:pPr>
            <a:r>
              <a:t>Trajectory types implemented: random, random_walk, linear, circular, static, sine_accel_nonlinear, mult_noise_nonlinear.</a:t>
            </a:r>
          </a:p>
          <a:p>
            <a:pPr>
              <a:spcAft>
                <a:spcPts val="800"/>
              </a:spcAft>
              <a:defRPr sz="2000">
                <a:solidFill>
                  <a:srgbClr val="F5F8FC"/>
                </a:solidFill>
                <a:latin typeface="Arial"/>
              </a:defRPr>
            </a:pPr>
            <a:r>
              <a:t>Trajectory-aware dataset includes variable source count and padded batch collation.</a:t>
            </a:r>
          </a:p>
          <a:p>
            <a:pPr>
              <a:spcAft>
                <a:spcPts val="800"/>
              </a:spcAft>
              <a:defRPr sz="2000">
                <a:solidFill>
                  <a:srgbClr val="F5F8FC"/>
                </a:solidFill>
                <a:latin typeface="Arial"/>
              </a:defRPr>
            </a:pPr>
            <a:r>
              <a:t>Evaluation-ready outputs include labels, source counts, and per-step tensors for sequential processing.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C2331"/>
                </a:solidFill>
                <a:latin typeface="Arial"/>
              </a:rPr>
              <a:t>4. Training and Evaluation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32588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606D80"/>
                </a:solidFill>
                <a:latin typeface="Arial"/>
              </a:rPr>
              <a:t>Sequence-first optimization and model selection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94560"/>
            <a:ext cx="1920240" cy="914400"/>
          </a:xfrm>
          <a:prstGeom prst="roundRect">
            <a:avLst/>
          </a:prstGeom>
          <a:solidFill>
            <a:srgbClr val="267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8FC"/>
                </a:solidFill>
                <a:latin typeface="Arial"/>
              </a:rPr>
              <a:t>Trajectory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2194560"/>
            <a:ext cx="1920240" cy="914400"/>
          </a:xfrm>
          <a:prstGeom prst="round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8FC"/>
                </a:solidFill>
                <a:latin typeface="Arial"/>
              </a:rPr>
              <a:t>SubspaceNet Forward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2194560"/>
            <a:ext cx="1920240" cy="914400"/>
          </a:xfrm>
          <a:prstGeom prst="roundRect">
            <a:avLst/>
          </a:prstGeom>
          <a:solidFill>
            <a:srgbClr val="267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8FC"/>
                </a:solidFill>
                <a:latin typeface="Arial"/>
              </a:rPr>
              <a:t>Loss + Backprop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2194560"/>
            <a:ext cx="1920240" cy="914400"/>
          </a:xfrm>
          <a:prstGeom prst="round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8FC"/>
                </a:solidFill>
                <a:latin typeface="Arial"/>
              </a:rPr>
              <a:t>Validation + Checkpoint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66960" y="2194560"/>
            <a:ext cx="1920240" cy="914400"/>
          </a:xfrm>
          <a:prstGeom prst="roundRect">
            <a:avLst/>
          </a:prstGeom>
          <a:solidFill>
            <a:srgbClr val="267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8FC"/>
                </a:solidFill>
                <a:latin typeface="Arial"/>
              </a:rPr>
              <a:t>Evaluation</a:t>
            </a:r>
          </a:p>
        </p:txBody>
      </p:sp>
      <p:sp>
        <p:nvSpPr>
          <p:cNvPr id="9" name="Chevron 8"/>
          <p:cNvSpPr/>
          <p:nvPr/>
        </p:nvSpPr>
        <p:spPr>
          <a:xfrm>
            <a:off x="2697480" y="2423160"/>
            <a:ext cx="365760" cy="457200"/>
          </a:xfrm>
          <a:prstGeom prst="chevron">
            <a:avLst/>
          </a:prstGeom>
          <a:solidFill>
            <a:srgbClr val="8C9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evron 9"/>
          <p:cNvSpPr/>
          <p:nvPr/>
        </p:nvSpPr>
        <p:spPr>
          <a:xfrm>
            <a:off x="4983480" y="2423160"/>
            <a:ext cx="365760" cy="457200"/>
          </a:xfrm>
          <a:prstGeom prst="chevron">
            <a:avLst/>
          </a:prstGeom>
          <a:solidFill>
            <a:srgbClr val="8C9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7269480" y="2423160"/>
            <a:ext cx="365760" cy="457200"/>
          </a:xfrm>
          <a:prstGeom prst="chevron">
            <a:avLst/>
          </a:prstGeom>
          <a:solidFill>
            <a:srgbClr val="8C9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9555480" y="2423160"/>
            <a:ext cx="365760" cy="457200"/>
          </a:xfrm>
          <a:prstGeom prst="chevron">
            <a:avLst/>
          </a:prstGeom>
          <a:solidFill>
            <a:srgbClr val="8C9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74903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C2331"/>
                </a:solidFill>
                <a:latin typeface="Arial"/>
              </a:defRPr>
            </a:pPr>
            <a:r>
              <a:t>Primary metrics used in repo: RMSPE, RMAPE; optional Kalman/innovation statistics for tracking diagnostics.</a:t>
            </a:r>
          </a:p>
          <a:p>
            <a:pPr>
              <a:spcAft>
                <a:spcPts val="800"/>
              </a:spcAft>
              <a:defRPr sz="1800">
                <a:solidFill>
                  <a:srgbClr val="1C2331"/>
                </a:solidFill>
                <a:latin typeface="Arial"/>
              </a:defRPr>
            </a:pPr>
            <a:r>
              <a:t>Checkpointing and plotting are configurable in simulation/training sections.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C2331"/>
                </a:solidFill>
                <a:latin typeface="Arial"/>
              </a:rPr>
              <a:t>5. Online Learning (Windowed)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32588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606D80"/>
                </a:solidFill>
                <a:latin typeface="Arial"/>
              </a:rPr>
              <a:t>Config-driven adaptation with EKF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C2331"/>
                </a:solidFill>
                <a:latin typeface="Arial"/>
              </a:defRPr>
            </a:pPr>
            <a:r>
              <a:t>Online config example: window_size=5, stride=5, max_iterations=10, trajectory_length=300.</a:t>
            </a:r>
          </a:p>
          <a:p>
            <a:pPr>
              <a:spcAft>
                <a:spcPts val="800"/>
              </a:spcAft>
              <a:defRPr sz="2000">
                <a:solidFill>
                  <a:srgbClr val="1C2331"/>
                </a:solidFill>
                <a:latin typeface="Arial"/>
              </a:defRPr>
            </a:pPr>
            <a:r>
              <a:t>Triggering: loss_threshold and time_to_learn control when adaptation starts.</a:t>
            </a:r>
          </a:p>
          <a:p>
            <a:pPr>
              <a:spcAft>
                <a:spcPts val="800"/>
              </a:spcAft>
              <a:defRPr sz="2000">
                <a:solidFill>
                  <a:srgbClr val="1C2331"/>
                </a:solidFill>
                <a:latin typeface="Arial"/>
              </a:defRPr>
            </a:pPr>
            <a:r>
              <a:t>Supported training references: configured loss, kalman_innovation, y_s_inv_y, unsupervised_rmape/rmspe, multimoment.</a:t>
            </a:r>
          </a:p>
          <a:p>
            <a:pPr>
              <a:spcAft>
                <a:spcPts val="800"/>
              </a:spcAft>
              <a:defRPr sz="2000">
                <a:solidFill>
                  <a:srgbClr val="1C2331"/>
                </a:solidFill>
                <a:latin typeface="Arial"/>
              </a:defRPr>
            </a:pPr>
            <a:r>
              <a:t>Dynamic perturbation schedule: eta_update_interval_windows + eta_increment with [min_eta, max_eta] bounds.</a:t>
            </a:r>
          </a:p>
          <a:p>
            <a:pPr>
              <a:spcAft>
                <a:spcPts val="800"/>
              </a:spcAft>
              <a:defRPr sz="2000">
                <a:solidFill>
                  <a:srgbClr val="1C2331"/>
                </a:solidFill>
                <a:latin typeface="Arial"/>
              </a:defRPr>
            </a:pPr>
            <a:r>
              <a:t>Typical use case: load a pretrained checkpoint, then adapt to non-stationary trajectory windows.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5F8FC"/>
                </a:solidFill>
                <a:latin typeface="Arial"/>
              </a:rPr>
              <a:t>6. Migration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32588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BBC6D6"/>
                </a:solidFill>
                <a:latin typeface="Arial"/>
              </a:rPr>
              <a:t>Progress from legacy layout to src-first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5F8FC"/>
                </a:solidFill>
                <a:latin typeface="Arial"/>
              </a:defRPr>
            </a:pPr>
            <a:r>
              <a:t>Completed: src architecture, grouped configs, `python -m src.train` entrypoint, compatibility wrappers.</a:t>
            </a:r>
          </a:p>
          <a:p>
            <a:pPr>
              <a:spcAft>
                <a:spcPts val="800"/>
              </a:spcAft>
              <a:defRPr sz="2000">
                <a:solidFill>
                  <a:srgbClr val="F5F8FC"/>
                </a:solidFill>
                <a:latin typeface="Arial"/>
              </a:defRPr>
            </a:pPr>
            <a:r>
              <a:t>Next 1: move remaining training loop logic from `simulation/` into `src/train/`.</a:t>
            </a:r>
          </a:p>
          <a:p>
            <a:pPr>
              <a:spcAft>
                <a:spcPts val="800"/>
              </a:spcAft>
              <a:defRPr sz="2000">
                <a:solidFill>
                  <a:srgbClr val="F5F8FC"/>
                </a:solidFill>
                <a:latin typeface="Arial"/>
              </a:defRPr>
            </a:pPr>
            <a:r>
              <a:t>Next 2: replace wrappers with native LightningModule/DataModule implementations.</a:t>
            </a:r>
          </a:p>
          <a:p>
            <a:pPr>
              <a:spcAft>
                <a:spcPts val="800"/>
              </a:spcAft>
              <a:defRPr sz="2000">
                <a:solidFill>
                  <a:srgbClr val="F5F8FC"/>
                </a:solidFill>
                <a:latin typeface="Arial"/>
              </a:defRPr>
            </a:pPr>
            <a:r>
              <a:t>Next 3: shift all metric/loss components into `src/eval/metrics/` and clean imports.</a:t>
            </a:r>
          </a:p>
          <a:p>
            <a:pPr>
              <a:spcAft>
                <a:spcPts val="800"/>
              </a:spcAft>
              <a:defRPr sz="2000">
                <a:solidFill>
                  <a:srgbClr val="F5F8FC"/>
                </a:solidFill>
                <a:latin typeface="Arial"/>
              </a:defRPr>
            </a:pPr>
            <a:r>
              <a:t>Next 4: retire legacy entrypoint after CI/test coverage is fully green on src-only path.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C2331"/>
                </a:solidFill>
                <a:latin typeface="Arial"/>
              </a:rPr>
              <a:t>7. Recommended Experiment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32588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606D80"/>
                </a:solidFill>
                <a:latin typeface="Arial"/>
              </a:rPr>
              <a:t>Near-term validation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C2331"/>
                </a:solidFill>
                <a:latin typeface="Arial"/>
              </a:defRPr>
            </a:pPr>
            <a:r>
              <a:t>E1: Baseline static inference vs EKF-only refinement vs EKF+online adaptation.</a:t>
            </a:r>
          </a:p>
          <a:p>
            <a:pPr>
              <a:spcAft>
                <a:spcPts val="800"/>
              </a:spcAft>
              <a:defRPr sz="2000">
                <a:solidFill>
                  <a:srgbClr val="1C2331"/>
                </a:solidFill>
                <a:latin typeface="Arial"/>
              </a:defRPr>
            </a:pPr>
            <a:r>
              <a:t>E2: Sweep by SNR and source count using `configs/evaluation_configs/*.yaml`.</a:t>
            </a:r>
          </a:p>
          <a:p>
            <a:pPr>
              <a:spcAft>
                <a:spcPts val="800"/>
              </a:spcAft>
              <a:defRPr sz="2000">
                <a:solidFill>
                  <a:srgbClr val="1C2331"/>
                </a:solidFill>
                <a:latin typeface="Arial"/>
              </a:defRPr>
            </a:pPr>
            <a:r>
              <a:t>E3: Non-linear trajectory stress tests (sine_accel_nonlinear, mult_noise_nonlinear).</a:t>
            </a:r>
          </a:p>
          <a:p>
            <a:pPr>
              <a:spcAft>
                <a:spcPts val="800"/>
              </a:spcAft>
              <a:defRPr sz="2000">
                <a:solidFill>
                  <a:srgbClr val="1C2331"/>
                </a:solidFill>
                <a:latin typeface="Arial"/>
              </a:defRPr>
            </a:pPr>
            <a:r>
              <a:t>E4: Ablate online objectives (unsupervised_rmspe, unsupervised_rmape, y_s_inv_y, multimoment).</a:t>
            </a:r>
          </a:p>
          <a:p>
            <a:pPr>
              <a:spcAft>
                <a:spcPts val="800"/>
              </a:spcAft>
              <a:defRPr sz="2000">
                <a:solidFill>
                  <a:srgbClr val="1C2331"/>
                </a:solidFill>
                <a:latin typeface="Arial"/>
              </a:defRPr>
            </a:pPr>
            <a:r>
              <a:t>E5: Report window-level covariance/innovation trends with DOA errors.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C2331"/>
                </a:solidFill>
                <a:latin typeface="Arial"/>
              </a:rPr>
              <a:t>8. Risks and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32588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606D80"/>
                </a:solidFill>
                <a:latin typeface="Arial"/>
              </a:rPr>
              <a:t>Engineering and evaluation risks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5394960" cy="4297680"/>
          </a:xfrm>
          <a:prstGeom prst="roundRect">
            <a:avLst/>
          </a:prstGeom>
          <a:solidFill>
            <a:srgbClr val="FFF3F3"/>
          </a:solidFill>
          <a:ln>
            <a:solidFill>
              <a:srgbClr val="D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09360" y="1828800"/>
            <a:ext cx="5394960" cy="4297680"/>
          </a:xfrm>
          <a:prstGeom prst="roundRect">
            <a:avLst/>
          </a:prstGeom>
          <a:solidFill>
            <a:srgbClr val="F1FAF6"/>
          </a:solidFill>
          <a:ln>
            <a:solidFill>
              <a:srgbClr val="5FA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C2331"/>
                </a:solidFill>
                <a:latin typeface="Arial"/>
              </a:defRPr>
            </a:pPr>
            <a:r>
              <a:t>Legacy wrapper dependency can hide interface drift.</a:t>
            </a:r>
          </a:p>
          <a:p>
            <a:pPr>
              <a:spcAft>
                <a:spcPts val="800"/>
              </a:spcAft>
              <a:defRPr sz="1700">
                <a:solidFill>
                  <a:srgbClr val="1C2331"/>
                </a:solidFill>
                <a:latin typeface="Arial"/>
              </a:defRPr>
            </a:pPr>
            <a:r>
              <a:t>Synthetic-only validation may overestimate real-world robustness.</a:t>
            </a:r>
          </a:p>
          <a:p>
            <a:pPr>
              <a:spcAft>
                <a:spcPts val="800"/>
              </a:spcAft>
              <a:defRPr sz="1700">
                <a:solidFill>
                  <a:srgbClr val="1C2331"/>
                </a:solidFill>
                <a:latin typeface="Arial"/>
              </a:defRPr>
            </a:pPr>
            <a:r>
              <a:t>Online adaptation can be unstable with poor trigger/loss settings.</a:t>
            </a:r>
          </a:p>
          <a:p>
            <a:pPr>
              <a:spcAft>
                <a:spcPts val="800"/>
              </a:spcAft>
              <a:defRPr sz="1700">
                <a:solidFill>
                  <a:srgbClr val="1C2331"/>
                </a:solidFill>
                <a:latin typeface="Arial"/>
              </a:defRPr>
            </a:pPr>
            <a:r>
              <a:t>Result reproducibility can degrade without fixed seeds/manifests.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05740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C2331"/>
                </a:solidFill>
                <a:latin typeface="Arial"/>
              </a:defRPr>
            </a:pPr>
            <a:r>
              <a:t>Add contract tests around wrapper boundaries and data schema.</a:t>
            </a:r>
          </a:p>
          <a:p>
            <a:pPr>
              <a:spcAft>
                <a:spcPts val="800"/>
              </a:spcAft>
              <a:defRPr sz="1700">
                <a:solidFill>
                  <a:srgbClr val="1C2331"/>
                </a:solidFill>
                <a:latin typeface="Arial"/>
              </a:defRPr>
            </a:pPr>
            <a:r>
              <a:t>Add scenario manifests and fixed random seeds for each run.</a:t>
            </a:r>
          </a:p>
          <a:p>
            <a:pPr>
              <a:spcAft>
                <a:spcPts val="800"/>
              </a:spcAft>
              <a:defRPr sz="1700">
                <a:solidFill>
                  <a:srgbClr val="1C2331"/>
                </a:solidFill>
                <a:latin typeface="Arial"/>
              </a:defRPr>
            </a:pPr>
            <a:r>
              <a:t>Track adaptation statistics per window to diagnose divergence.</a:t>
            </a:r>
          </a:p>
          <a:p>
            <a:pPr>
              <a:spcAft>
                <a:spcPts val="800"/>
              </a:spcAft>
              <a:defRPr sz="1700">
                <a:solidFill>
                  <a:srgbClr val="1C2331"/>
                </a:solidFill>
                <a:latin typeface="Arial"/>
              </a:defRPr>
            </a:pPr>
            <a:r>
              <a:t>Consolidate metrics pipeline and automate report generation.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5F8FC"/>
                </a:solidFill>
                <a:latin typeface="Arial"/>
              </a:rPr>
              <a:t>9. 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32588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BBC6D6"/>
                </a:solidFill>
                <a:latin typeface="Arial"/>
              </a:rPr>
              <a:t>SubspaceNet Update is positioned for trajectory-aware DOA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789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5F8FC"/>
                </a:solidFill>
                <a:latin typeface="Arial"/>
              </a:defRPr>
            </a:pPr>
            <a:r>
              <a:t>The repo already contains the key building blocks for dynamic tracking studies.</a:t>
            </a:r>
          </a:p>
          <a:p>
            <a:pPr>
              <a:spcAft>
                <a:spcPts val="800"/>
              </a:spcAft>
              <a:defRPr sz="2200">
                <a:solidFill>
                  <a:srgbClr val="F5F8FC"/>
                </a:solidFill>
                <a:latin typeface="Arial"/>
              </a:defRPr>
            </a:pPr>
            <a:r>
              <a:t>The highest leverage next step is completing src-native migration and standardized evaluation reports.</a:t>
            </a:r>
          </a:p>
          <a:p>
            <a:pPr>
              <a:spcAft>
                <a:spcPts val="800"/>
              </a:spcAft>
              <a:defRPr sz="2200">
                <a:solidFill>
                  <a:srgbClr val="F5F8FC"/>
                </a:solidFill>
                <a:latin typeface="Arial"/>
              </a:defRPr>
            </a:pPr>
            <a:r>
              <a:t>Paper draft assets are prepared under docs/ml_paper_writing for fast iteration.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CBCCF"/>
                </a:solidFill>
                <a:latin typeface="Arial"/>
              </a:rPr>
              <a:t>Output file: docs/ml_paper_writing/SubspaceNet_Update_overview.pptx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